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6AD69-5207-4C3C-8A3B-3C287804B280}" v="1" dt="2026-03-03T09:38:23.383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235FB3-107B-4A97-BDA6-11DC545B415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042BA2-EBB5-473A-A4B6-F99650FC46F0}">
      <dgm:prSet/>
      <dgm:spPr/>
      <dgm:t>
        <a:bodyPr/>
        <a:lstStyle/>
        <a:p>
          <a:r>
            <a:rPr lang="en-GB" b="0" i="0"/>
            <a:t>Total Potential = 3,412,500</a:t>
          </a:r>
          <a:endParaRPr lang="en-US"/>
        </a:p>
      </dgm:t>
    </dgm:pt>
    <dgm:pt modelId="{FD29C0F4-EE87-4AFC-B74A-5DD8E375A88E}" type="parTrans" cxnId="{6D4A6F3A-74D6-4883-9204-D7F18407811C}">
      <dgm:prSet/>
      <dgm:spPr/>
      <dgm:t>
        <a:bodyPr/>
        <a:lstStyle/>
        <a:p>
          <a:endParaRPr lang="en-US"/>
        </a:p>
      </dgm:t>
    </dgm:pt>
    <dgm:pt modelId="{11B6AD5B-28B0-4379-92E3-CC7FEE030F5E}" type="sibTrans" cxnId="{6D4A6F3A-74D6-4883-9204-D7F18407811C}">
      <dgm:prSet/>
      <dgm:spPr/>
      <dgm:t>
        <a:bodyPr/>
        <a:lstStyle/>
        <a:p>
          <a:endParaRPr lang="en-US"/>
        </a:p>
      </dgm:t>
    </dgm:pt>
    <dgm:pt modelId="{FAF90A76-0011-4436-97C2-8ACFC07EC359}">
      <dgm:prSet/>
      <dgm:spPr/>
      <dgm:t>
        <a:bodyPr/>
        <a:lstStyle/>
        <a:p>
          <a:r>
            <a:rPr lang="en-GB" b="0" i="0"/>
            <a:t>Probability Adjusted = 1,823,750</a:t>
          </a:r>
          <a:endParaRPr lang="en-US"/>
        </a:p>
      </dgm:t>
    </dgm:pt>
    <dgm:pt modelId="{D437A460-673A-42B4-AC1C-B24E58C59266}" type="parTrans" cxnId="{22BE244D-2E68-4BB3-9ACE-14495E126D21}">
      <dgm:prSet/>
      <dgm:spPr/>
      <dgm:t>
        <a:bodyPr/>
        <a:lstStyle/>
        <a:p>
          <a:endParaRPr lang="en-US"/>
        </a:p>
      </dgm:t>
    </dgm:pt>
    <dgm:pt modelId="{28180D99-8E61-4F14-A892-B3CD63395449}" type="sibTrans" cxnId="{22BE244D-2E68-4BB3-9ACE-14495E126D21}">
      <dgm:prSet/>
      <dgm:spPr/>
      <dgm:t>
        <a:bodyPr/>
        <a:lstStyle/>
        <a:p>
          <a:endParaRPr lang="en-US"/>
        </a:p>
      </dgm:t>
    </dgm:pt>
    <dgm:pt modelId="{EDD3B015-B9C8-44FA-85D1-6760CECDF874}">
      <dgm:prSet/>
      <dgm:spPr/>
      <dgm:t>
        <a:bodyPr/>
        <a:lstStyle/>
        <a:p>
          <a:r>
            <a:rPr lang="en-GB" b="0" i="0"/>
            <a:t>Progress 53%</a:t>
          </a:r>
          <a:endParaRPr lang="en-US"/>
        </a:p>
      </dgm:t>
    </dgm:pt>
    <dgm:pt modelId="{3F17CCE3-6E4F-4DC5-99BF-73895A738416}" type="parTrans" cxnId="{283480D1-E754-4F08-9B36-8CB0D8D250EB}">
      <dgm:prSet/>
      <dgm:spPr/>
      <dgm:t>
        <a:bodyPr/>
        <a:lstStyle/>
        <a:p>
          <a:endParaRPr lang="en-US"/>
        </a:p>
      </dgm:t>
    </dgm:pt>
    <dgm:pt modelId="{B612CECC-8FB4-4CCB-88EB-432B9541FD48}" type="sibTrans" cxnId="{283480D1-E754-4F08-9B36-8CB0D8D250EB}">
      <dgm:prSet/>
      <dgm:spPr/>
      <dgm:t>
        <a:bodyPr/>
        <a:lstStyle/>
        <a:p>
          <a:endParaRPr lang="en-US"/>
        </a:p>
      </dgm:t>
    </dgm:pt>
    <dgm:pt modelId="{768D968E-322D-4464-A9C2-3CE99D27C62F}" type="pres">
      <dgm:prSet presAssocID="{14235FB3-107B-4A97-BDA6-11DC545B415E}" presName="linear" presStyleCnt="0">
        <dgm:presLayoutVars>
          <dgm:animLvl val="lvl"/>
          <dgm:resizeHandles val="exact"/>
        </dgm:presLayoutVars>
      </dgm:prSet>
      <dgm:spPr/>
    </dgm:pt>
    <dgm:pt modelId="{61D7A7AC-2BDE-42A9-8078-30B5E9EF2FA8}" type="pres">
      <dgm:prSet presAssocID="{83042BA2-EBB5-473A-A4B6-F99650FC46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65E2073-92C4-48D4-8A1E-ED5D718928B9}" type="pres">
      <dgm:prSet presAssocID="{11B6AD5B-28B0-4379-92E3-CC7FEE030F5E}" presName="spacer" presStyleCnt="0"/>
      <dgm:spPr/>
    </dgm:pt>
    <dgm:pt modelId="{7523A6AB-376E-4D59-8297-81E60CAD62FC}" type="pres">
      <dgm:prSet presAssocID="{FAF90A76-0011-4436-97C2-8ACFC07EC3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C5D49DD-256A-46B3-9C06-7C23BD096CAD}" type="pres">
      <dgm:prSet presAssocID="{28180D99-8E61-4F14-A892-B3CD63395449}" presName="spacer" presStyleCnt="0"/>
      <dgm:spPr/>
    </dgm:pt>
    <dgm:pt modelId="{3C4DC273-3DB3-4F50-993D-FCFFBA1DD0AE}" type="pres">
      <dgm:prSet presAssocID="{EDD3B015-B9C8-44FA-85D1-6760CECDF87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D4A6F3A-74D6-4883-9204-D7F18407811C}" srcId="{14235FB3-107B-4A97-BDA6-11DC545B415E}" destId="{83042BA2-EBB5-473A-A4B6-F99650FC46F0}" srcOrd="0" destOrd="0" parTransId="{FD29C0F4-EE87-4AFC-B74A-5DD8E375A88E}" sibTransId="{11B6AD5B-28B0-4379-92E3-CC7FEE030F5E}"/>
    <dgm:cxn modelId="{73B1C83C-A9F6-4500-A3E6-95C671C9216F}" type="presOf" srcId="{83042BA2-EBB5-473A-A4B6-F99650FC46F0}" destId="{61D7A7AC-2BDE-42A9-8078-30B5E9EF2FA8}" srcOrd="0" destOrd="0" presId="urn:microsoft.com/office/officeart/2005/8/layout/vList2"/>
    <dgm:cxn modelId="{22BE244D-2E68-4BB3-9ACE-14495E126D21}" srcId="{14235FB3-107B-4A97-BDA6-11DC545B415E}" destId="{FAF90A76-0011-4436-97C2-8ACFC07EC359}" srcOrd="1" destOrd="0" parTransId="{D437A460-673A-42B4-AC1C-B24E58C59266}" sibTransId="{28180D99-8E61-4F14-A892-B3CD63395449}"/>
    <dgm:cxn modelId="{0C470B51-2FF5-48DE-97DB-AF4FB4DE2A93}" type="presOf" srcId="{14235FB3-107B-4A97-BDA6-11DC545B415E}" destId="{768D968E-322D-4464-A9C2-3CE99D27C62F}" srcOrd="0" destOrd="0" presId="urn:microsoft.com/office/officeart/2005/8/layout/vList2"/>
    <dgm:cxn modelId="{30E78491-F561-4919-8EB1-B7EAF232573F}" type="presOf" srcId="{FAF90A76-0011-4436-97C2-8ACFC07EC359}" destId="{7523A6AB-376E-4D59-8297-81E60CAD62FC}" srcOrd="0" destOrd="0" presId="urn:microsoft.com/office/officeart/2005/8/layout/vList2"/>
    <dgm:cxn modelId="{E878C39B-AD5B-49C5-A1F0-3C74058A3BEC}" type="presOf" srcId="{EDD3B015-B9C8-44FA-85D1-6760CECDF874}" destId="{3C4DC273-3DB3-4F50-993D-FCFFBA1DD0AE}" srcOrd="0" destOrd="0" presId="urn:microsoft.com/office/officeart/2005/8/layout/vList2"/>
    <dgm:cxn modelId="{283480D1-E754-4F08-9B36-8CB0D8D250EB}" srcId="{14235FB3-107B-4A97-BDA6-11DC545B415E}" destId="{EDD3B015-B9C8-44FA-85D1-6760CECDF874}" srcOrd="2" destOrd="0" parTransId="{3F17CCE3-6E4F-4DC5-99BF-73895A738416}" sibTransId="{B612CECC-8FB4-4CCB-88EB-432B9541FD48}"/>
    <dgm:cxn modelId="{117AAC45-5EFD-452A-AC7D-FE0125095AFA}" type="presParOf" srcId="{768D968E-322D-4464-A9C2-3CE99D27C62F}" destId="{61D7A7AC-2BDE-42A9-8078-30B5E9EF2FA8}" srcOrd="0" destOrd="0" presId="urn:microsoft.com/office/officeart/2005/8/layout/vList2"/>
    <dgm:cxn modelId="{B2B543CD-BD48-4242-8D6A-6C7AB49658AB}" type="presParOf" srcId="{768D968E-322D-4464-A9C2-3CE99D27C62F}" destId="{965E2073-92C4-48D4-8A1E-ED5D718928B9}" srcOrd="1" destOrd="0" presId="urn:microsoft.com/office/officeart/2005/8/layout/vList2"/>
    <dgm:cxn modelId="{EAA3572D-5C6F-42D8-9034-D93505BCD570}" type="presParOf" srcId="{768D968E-322D-4464-A9C2-3CE99D27C62F}" destId="{7523A6AB-376E-4D59-8297-81E60CAD62FC}" srcOrd="2" destOrd="0" presId="urn:microsoft.com/office/officeart/2005/8/layout/vList2"/>
    <dgm:cxn modelId="{1409DDCB-D7FD-4A50-8EB3-CFF20142F37C}" type="presParOf" srcId="{768D968E-322D-4464-A9C2-3CE99D27C62F}" destId="{5C5D49DD-256A-46B3-9C06-7C23BD096CAD}" srcOrd="3" destOrd="0" presId="urn:microsoft.com/office/officeart/2005/8/layout/vList2"/>
    <dgm:cxn modelId="{D15DB506-2BFC-4793-911C-3A5D54D47E0A}" type="presParOf" srcId="{768D968E-322D-4464-A9C2-3CE99D27C62F}" destId="{3C4DC273-3DB3-4F50-993D-FCFFBA1DD0A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7A7AC-2BDE-42A9-8078-30B5E9EF2FA8}">
      <dsp:nvSpPr>
        <dsp:cNvPr id="0" name=""/>
        <dsp:cNvSpPr/>
      </dsp:nvSpPr>
      <dsp:spPr>
        <a:xfrm>
          <a:off x="0" y="58793"/>
          <a:ext cx="6391275" cy="1630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b="0" i="0" kern="1200"/>
            <a:t>Total Potential = 3,412,500</a:t>
          </a:r>
          <a:endParaRPr lang="en-US" sz="4100" kern="1200"/>
        </a:p>
      </dsp:txBody>
      <dsp:txXfrm>
        <a:off x="79618" y="138411"/>
        <a:ext cx="6232039" cy="1471744"/>
      </dsp:txXfrm>
    </dsp:sp>
    <dsp:sp modelId="{7523A6AB-376E-4D59-8297-81E60CAD62FC}">
      <dsp:nvSpPr>
        <dsp:cNvPr id="0" name=""/>
        <dsp:cNvSpPr/>
      </dsp:nvSpPr>
      <dsp:spPr>
        <a:xfrm>
          <a:off x="0" y="1807853"/>
          <a:ext cx="6391275" cy="163098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b="0" i="0" kern="1200"/>
            <a:t>Probability Adjusted = 1,823,750</a:t>
          </a:r>
          <a:endParaRPr lang="en-US" sz="4100" kern="1200"/>
        </a:p>
      </dsp:txBody>
      <dsp:txXfrm>
        <a:off x="79618" y="1887471"/>
        <a:ext cx="6232039" cy="1471744"/>
      </dsp:txXfrm>
    </dsp:sp>
    <dsp:sp modelId="{3C4DC273-3DB3-4F50-993D-FCFFBA1DD0AE}">
      <dsp:nvSpPr>
        <dsp:cNvPr id="0" name=""/>
        <dsp:cNvSpPr/>
      </dsp:nvSpPr>
      <dsp:spPr>
        <a:xfrm>
          <a:off x="0" y="3556913"/>
          <a:ext cx="6391275" cy="163098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100" b="0" i="0" kern="1200"/>
            <a:t>Progress 53%</a:t>
          </a:r>
          <a:endParaRPr lang="en-US" sz="4100" kern="1200"/>
        </a:p>
      </dsp:txBody>
      <dsp:txXfrm>
        <a:off x="79618" y="3636531"/>
        <a:ext cx="6232039" cy="1471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74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6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13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222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12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33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50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70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86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1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32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048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89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662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454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43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F1BA645-7550-4604-BBBA-86692E12F3C0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7A96723-7BF0-4F80-B2AF-FF6CD279DF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08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7E68-16AF-10F1-3FC8-44DB0C4F5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810623"/>
            <a:ext cx="4894428" cy="3570162"/>
          </a:xfrm>
        </p:spPr>
        <p:txBody>
          <a:bodyPr anchor="b">
            <a:normAutofit/>
          </a:bodyPr>
          <a:lstStyle/>
          <a:p>
            <a:pPr algn="l"/>
            <a:r>
              <a:rPr lang="en-GB" sz="5400" dirty="0">
                <a:solidFill>
                  <a:schemeClr val="bg1"/>
                </a:solidFill>
              </a:rPr>
              <a:t>🎯 Revenue Distribution by Prospect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32EA0-FD5E-E60F-3588-2049F8FC7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119" y="4547167"/>
            <a:ext cx="4894428" cy="1288482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Estimated Converted Income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C23095-EA5C-BDBF-0B1F-F645E93E4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32979"/>
              </p:ext>
            </p:extLst>
          </p:nvPr>
        </p:nvGraphicFramePr>
        <p:xfrm>
          <a:off x="6817629" y="1526099"/>
          <a:ext cx="3899156" cy="379533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06097">
                  <a:extLst>
                    <a:ext uri="{9D8B030D-6E8A-4147-A177-3AD203B41FA5}">
                      <a16:colId xmlns:a16="http://schemas.microsoft.com/office/drawing/2014/main" val="3094918547"/>
                    </a:ext>
                  </a:extLst>
                </a:gridCol>
                <a:gridCol w="1293059">
                  <a:extLst>
                    <a:ext uri="{9D8B030D-6E8A-4147-A177-3AD203B41FA5}">
                      <a16:colId xmlns:a16="http://schemas.microsoft.com/office/drawing/2014/main" val="3478121982"/>
                    </a:ext>
                  </a:extLst>
                </a:gridCol>
              </a:tblGrid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Prospect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Value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4127821384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Healthcare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1,000,000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1550875138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BOMAID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625,000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108196054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Dread Disease (BPOPF)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380,000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1803924566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Tardiue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195,000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312048387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Northside Primary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120,000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321461397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Winners Chapel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100,000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014228094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Hospital Cash Plan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85,500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486221431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KFC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48,000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3506494698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Woolworths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40,000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337741446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Livingstone Kolobeng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26,000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938807583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AFSV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25,000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074531264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Oxy Gas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25,000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8215564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Nandos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23,000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3634349043"/>
                  </a:ext>
                </a:extLst>
              </a:tr>
              <a:tr h="25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/>
                        <a:t>Legal Guard</a:t>
                      </a:r>
                    </a:p>
                  </a:txBody>
                  <a:tcPr marL="56905" marR="56905" marT="28453" marB="284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/>
                        <a:t>20,000</a:t>
                      </a:r>
                    </a:p>
                  </a:txBody>
                  <a:tcPr marL="56905" marR="56905" marT="28453" marB="28453" anchor="ctr"/>
                </a:tc>
                <a:extLst>
                  <a:ext uri="{0D108BD9-81ED-4DB2-BD59-A6C34878D82A}">
                    <a16:rowId xmlns:a16="http://schemas.microsoft.com/office/drawing/2014/main" val="2245036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693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4B66FA-1484-3FE9-B745-D32A72F6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EBEBEB"/>
                </a:solidFill>
              </a:rPr>
              <a:t>Overall Pipeline Progress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62F74C-F33E-E7FF-4E2D-A1B649E37E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026556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648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EEEE-FECD-E8BA-F28E-44F0595EE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88258"/>
            <a:ext cx="8761413" cy="1504336"/>
          </a:xfrm>
        </p:spPr>
        <p:txBody>
          <a:bodyPr/>
          <a:lstStyle/>
          <a:p>
            <a:r>
              <a:rPr lang="en-GB" dirty="0"/>
              <a:t>Individual Progress Gauges (High Value Prospects)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6C544-0752-A139-19AB-5709BAFF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92595"/>
            <a:ext cx="8825659" cy="45523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Healthcare</a:t>
            </a:r>
          </a:p>
          <a:p>
            <a:r>
              <a:rPr lang="en-GB" dirty="0"/>
              <a:t>Progress: 86%</a:t>
            </a:r>
          </a:p>
          <a:p>
            <a:r>
              <a:rPr lang="en-GB" dirty="0"/>
              <a:t>Probability</a:t>
            </a:r>
            <a:r>
              <a:rPr lang="en-GB"/>
              <a:t>: 80%</a:t>
            </a:r>
            <a:endParaRPr lang="en-GB" dirty="0"/>
          </a:p>
          <a:p>
            <a:r>
              <a:rPr lang="en-GB" dirty="0"/>
              <a:t>Value: 195,000.00</a:t>
            </a:r>
          </a:p>
          <a:p>
            <a:pPr marL="0" indent="0">
              <a:buNone/>
            </a:pPr>
            <a:r>
              <a:rPr lang="en-GB" b="1" dirty="0"/>
              <a:t>BOMAID</a:t>
            </a:r>
          </a:p>
          <a:p>
            <a:r>
              <a:rPr lang="en-GB" dirty="0"/>
              <a:t>Progress: 86%</a:t>
            </a:r>
          </a:p>
          <a:p>
            <a:r>
              <a:rPr lang="en-GB" dirty="0"/>
              <a:t>Probability: 50%</a:t>
            </a:r>
          </a:p>
          <a:p>
            <a:r>
              <a:rPr lang="en-GB" dirty="0"/>
              <a:t>Value: 625,000</a:t>
            </a:r>
          </a:p>
          <a:p>
            <a:pPr marL="0" indent="0">
              <a:buNone/>
            </a:pPr>
            <a:r>
              <a:rPr lang="en-GB" b="1" dirty="0"/>
              <a:t>Dread Disease (BPOPF)</a:t>
            </a:r>
          </a:p>
          <a:p>
            <a:r>
              <a:rPr lang="en-GB" dirty="0"/>
              <a:t>Progress: 71%</a:t>
            </a:r>
          </a:p>
          <a:p>
            <a:r>
              <a:rPr lang="en-GB" dirty="0"/>
              <a:t>Probability: 50%</a:t>
            </a:r>
          </a:p>
          <a:p>
            <a:r>
              <a:rPr lang="en-GB" dirty="0"/>
              <a:t>Value: 380,000</a:t>
            </a:r>
          </a:p>
          <a:p>
            <a:r>
              <a:rPr lang="en-GB" dirty="0"/>
              <a:t>Hospital Cash Plan (BPOPF)</a:t>
            </a:r>
          </a:p>
          <a:p>
            <a:r>
              <a:rPr lang="en-GB" dirty="0"/>
              <a:t>Progress: 71%</a:t>
            </a:r>
          </a:p>
          <a:p>
            <a:r>
              <a:rPr lang="en-GB" dirty="0"/>
              <a:t>Probability: 50%Value: 85,500</a:t>
            </a:r>
          </a:p>
        </p:txBody>
      </p:sp>
    </p:spTree>
    <p:extLst>
      <p:ext uri="{BB962C8B-B14F-4D97-AF65-F5344CB8AC3E}">
        <p14:creationId xmlns:p14="http://schemas.microsoft.com/office/powerpoint/2010/main" val="136874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2A31-4D72-3B96-2BDE-F56E3C3E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Early Stage Prospects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C779-F5B8-FFDB-DAE8-D89AE7401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Oxy Gas</a:t>
            </a:r>
          </a:p>
          <a:p>
            <a:r>
              <a:rPr lang="en-GB" dirty="0"/>
              <a:t>Livingstone </a:t>
            </a:r>
            <a:r>
              <a:rPr lang="en-GB" dirty="0" err="1"/>
              <a:t>Kolobeng</a:t>
            </a:r>
            <a:endParaRPr lang="en-GB" dirty="0"/>
          </a:p>
          <a:p>
            <a:r>
              <a:rPr lang="en-GB" dirty="0"/>
              <a:t>MP Mining </a:t>
            </a:r>
          </a:p>
          <a:p>
            <a:r>
              <a:rPr lang="en-GB" dirty="0"/>
              <a:t>Winners Chapel</a:t>
            </a:r>
          </a:p>
          <a:p>
            <a:r>
              <a:rPr lang="en-GB" dirty="0"/>
              <a:t>Woolworths</a:t>
            </a:r>
          </a:p>
          <a:p>
            <a:r>
              <a:rPr lang="en-GB" dirty="0" err="1"/>
              <a:t>Nandos</a:t>
            </a:r>
            <a:endParaRPr lang="en-GB" dirty="0"/>
          </a:p>
          <a:p>
            <a:r>
              <a:rPr lang="en-GB" dirty="0"/>
              <a:t>KFC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All currently at 14% progress</a:t>
            </a:r>
          </a:p>
        </p:txBody>
      </p:sp>
    </p:spTree>
    <p:extLst>
      <p:ext uri="{BB962C8B-B14F-4D97-AF65-F5344CB8AC3E}">
        <p14:creationId xmlns:p14="http://schemas.microsoft.com/office/powerpoint/2010/main" val="2784142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1060</TotalTime>
  <Words>148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 Boardroom</vt:lpstr>
      <vt:lpstr>🎯 Revenue Distribution by Prospect </vt:lpstr>
      <vt:lpstr>Overall Pipeline Progress</vt:lpstr>
      <vt:lpstr>Individual Progress Gauges (High Value Prospects)</vt:lpstr>
      <vt:lpstr>Early Stage Prospects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Hellen Sima</dc:creator>
  <cp:lastModifiedBy>Hellen Sima</cp:lastModifiedBy>
  <cp:revision>2</cp:revision>
  <dcterms:created xsi:type="dcterms:W3CDTF">2026-03-03T08:15:48Z</dcterms:created>
  <dcterms:modified xsi:type="dcterms:W3CDTF">2026-03-10T05:17:24Z</dcterms:modified>
</cp:coreProperties>
</file>